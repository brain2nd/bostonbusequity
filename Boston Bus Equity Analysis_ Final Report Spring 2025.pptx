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jp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86238"/>
            <a:ext cx="914400" cy="952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2000" y="76200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168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COURSE: CS506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762000" y="990600"/>
            <a:ext cx="720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Science Tools and Applications</a:t>
            </a:r>
            <a:endParaRPr lang="en-US" sz="1350" dirty="0"/>
          </a:p>
        </p:txBody>
      </p:sp>
      <p:sp>
        <p:nvSpPr>
          <p:cNvPr id="7" name="Text 2"/>
          <p:cNvSpPr/>
          <p:nvPr/>
        </p:nvSpPr>
        <p:spPr>
          <a:xfrm>
            <a:off x="9509760" y="762000"/>
            <a:ext cx="1920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REPORT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8305800" y="952500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2025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762000" y="1905000"/>
            <a:ext cx="8534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7200"/>
              </a:lnSpc>
              <a:buNone/>
            </a:pPr>
            <a:r>
              <a:rPr lang="en-US" sz="7200" b="1" spc="-28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Boston Bus</a:t>
            </a:r>
            <a:pPr indent="0" marL="0">
              <a:lnSpc>
                <a:spcPts val="7200"/>
              </a:lnSpc>
              <a:buNone/>
            </a:pPr>
            <a:r>
              <a:rPr lang="en-US" sz="7200" b="1" spc="-28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7200"/>
              </a:lnSpc>
              <a:buNone/>
            </a:pPr>
            <a:r>
              <a:rPr lang="en-US" sz="7200" b="1" spc="-288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Equity Analysis</a:t>
            </a:r>
            <a:endParaRPr lang="en-US" sz="7200" dirty="0"/>
          </a:p>
        </p:txBody>
      </p:sp>
      <p:sp>
        <p:nvSpPr>
          <p:cNvPr id="10" name="Text 5"/>
          <p:cNvSpPr/>
          <p:nvPr/>
        </p:nvSpPr>
        <p:spPr>
          <a:xfrm>
            <a:off x="1828800" y="4038600"/>
            <a:ext cx="14264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spc="36" kern="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Transit Performance &amp; Neighborhood Impact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62000" y="5448300"/>
            <a:ext cx="325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762000" y="56769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of Boston Analytics Team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762000" y="5905500"/>
            <a:ext cx="448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Collaboration with Spark!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470350" y="5448300"/>
            <a:ext cx="325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470350" y="5676900"/>
            <a:ext cx="5547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zztangbu@bu.edu • lzj2729@bu.edu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470350" y="5867400"/>
            <a:ext cx="480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ljf628@bu.edu • yaobc@bu.edu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178701" y="5791200"/>
            <a:ext cx="32512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spc="-36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BOSTON UNIVERSITY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178701" y="5943600"/>
            <a:ext cx="32512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spc="-36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FEBRUARY 2025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696700" y="-66675"/>
            <a:ext cx="1143000" cy="654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FFFFFF">
                    <a:alpha val="3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MBTA 2025</a:t>
            </a:r>
            <a:endParaRPr lang="en-US" sz="9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891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10" y="315673"/>
            <a:ext cx="631346" cy="4735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10" y="2206999"/>
            <a:ext cx="4371580" cy="187431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48" y="2471499"/>
            <a:ext cx="228863" cy="22861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510" y="4270713"/>
            <a:ext cx="4371580" cy="227161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14" y="4475407"/>
            <a:ext cx="189404" cy="19039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14" y="4902060"/>
            <a:ext cx="149945" cy="15241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14" y="5256945"/>
            <a:ext cx="149945" cy="15241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14" y="5840447"/>
            <a:ext cx="149945" cy="15241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0763" y="2222290"/>
            <a:ext cx="189404" cy="19039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60763" y="2617375"/>
            <a:ext cx="3215673" cy="94702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2707" y="2617375"/>
            <a:ext cx="3215673" cy="94702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60763" y="3690663"/>
            <a:ext cx="3215673" cy="789183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02707" y="3690663"/>
            <a:ext cx="3215673" cy="78918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60763" y="4606116"/>
            <a:ext cx="6557617" cy="78918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60763" y="5647837"/>
            <a:ext cx="6557617" cy="505077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87033" y="5789890"/>
            <a:ext cx="189404" cy="220971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73510" y="520861"/>
            <a:ext cx="17382173" cy="3156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86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 and Research Goals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473510" y="962803"/>
            <a:ext cx="7071079" cy="9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study examines ridership trends, delay patterns, and service disparities across Boston neighborhoods to assess the impact of bus performance on diverse demographic groups.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049613" y="2459538"/>
            <a:ext cx="3866503" cy="25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88"/>
              </a:lnSpc>
              <a:buNone/>
            </a:pPr>
            <a:r>
              <a:rPr lang="en-US" sz="18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Goal</a:t>
            </a:r>
            <a:endParaRPr lang="en-US" sz="1800" dirty="0"/>
          </a:p>
        </p:txBody>
      </p:sp>
      <p:sp>
        <p:nvSpPr>
          <p:cNvPr id="22" name="Text 3"/>
          <p:cNvSpPr/>
          <p:nvPr/>
        </p:nvSpPr>
        <p:spPr>
          <a:xfrm>
            <a:off x="726048" y="2838346"/>
            <a:ext cx="3866503" cy="9904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better understand the impact of bus performance on Boston residents by examining service performance trends through the dual lens of </a:t>
            </a:r>
            <a:pPr indent="0" marL="0">
              <a:lnSpc>
                <a:spcPts val="1950"/>
              </a:lnSpc>
              <a:buNone/>
            </a:pPr>
            <a:r>
              <a:rPr lang="en-US" sz="1200" b="1" u="sng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geography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indent="0" marL="0">
              <a:lnSpc>
                <a:spcPts val="1950"/>
              </a:lnSpc>
              <a:buNone/>
            </a:pPr>
            <a:r>
              <a:rPr lang="en-US" sz="1200" b="1" u="sng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947020" y="4460117"/>
            <a:ext cx="3992773" cy="2209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4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Scope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907560" y="4870492"/>
            <a:ext cx="11551321" cy="22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Pre-pandemic (2016) to Current (2024)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907560" y="5225378"/>
            <a:ext cx="3748126" cy="4572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Spatial: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22 Boston neighborhoods and 2,910 bus stops.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907560" y="5808880"/>
            <a:ext cx="3748126" cy="4572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Scale: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Analysis of ~27M arrival records and ~1.8M ridership records.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5444869" y="2206999"/>
            <a:ext cx="6557617" cy="2209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4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Research Questions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5318600" y="2775211"/>
            <a:ext cx="2900001" cy="12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4"/>
              </a:lnSpc>
              <a:buNone/>
            </a:pPr>
            <a:r>
              <a:rPr lang="en-US" sz="900" b="1" spc="43" kern="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RIDERSHIP TRENDS</a:t>
            </a:r>
            <a:endParaRPr lang="en-US" sz="900" dirty="0"/>
          </a:p>
        </p:txBody>
      </p:sp>
      <p:sp>
        <p:nvSpPr>
          <p:cNvPr id="29" name="Text 10"/>
          <p:cNvSpPr/>
          <p:nvPr/>
        </p:nvSpPr>
        <p:spPr>
          <a:xfrm>
            <a:off x="5318600" y="2933048"/>
            <a:ext cx="2900001" cy="47351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3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has ridership changed from pre-pandemic to post-pandemic across various routes?</a:t>
            </a:r>
            <a:endParaRPr lang="en-US" sz="1050" dirty="0"/>
          </a:p>
        </p:txBody>
      </p:sp>
      <p:sp>
        <p:nvSpPr>
          <p:cNvPr id="30" name="Text 11"/>
          <p:cNvSpPr/>
          <p:nvPr/>
        </p:nvSpPr>
        <p:spPr>
          <a:xfrm>
            <a:off x="8660543" y="2775211"/>
            <a:ext cx="3641971" cy="12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4"/>
              </a:lnSpc>
              <a:buNone/>
            </a:pPr>
            <a:r>
              <a:rPr lang="en-US" sz="900" b="1" spc="4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EFFICIENCY</a:t>
            </a:r>
            <a:endParaRPr lang="en-US" sz="900" dirty="0"/>
          </a:p>
        </p:txBody>
      </p:sp>
      <p:sp>
        <p:nvSpPr>
          <p:cNvPr id="31" name="Text 12"/>
          <p:cNvSpPr/>
          <p:nvPr/>
        </p:nvSpPr>
        <p:spPr>
          <a:xfrm>
            <a:off x="8660543" y="2933048"/>
            <a:ext cx="2900001" cy="3156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3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the citywide average delays, wait times, and end-to-end travel times?</a:t>
            </a:r>
            <a:endParaRPr lang="en-US" sz="1050" dirty="0"/>
          </a:p>
        </p:txBody>
      </p:sp>
      <p:sp>
        <p:nvSpPr>
          <p:cNvPr id="32" name="Text 13"/>
          <p:cNvSpPr/>
          <p:nvPr/>
        </p:nvSpPr>
        <p:spPr>
          <a:xfrm>
            <a:off x="5318600" y="3848500"/>
            <a:ext cx="2900001" cy="12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4"/>
              </a:lnSpc>
              <a:buNone/>
            </a:pPr>
            <a:r>
              <a:rPr lang="en-US" sz="900" b="1" spc="43" kern="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ROUTES</a:t>
            </a:r>
            <a:endParaRPr lang="en-US" sz="900" dirty="0"/>
          </a:p>
        </p:txBody>
      </p:sp>
      <p:sp>
        <p:nvSpPr>
          <p:cNvPr id="33" name="Text 14"/>
          <p:cNvSpPr/>
          <p:nvPr/>
        </p:nvSpPr>
        <p:spPr>
          <a:xfrm>
            <a:off x="5318600" y="4006337"/>
            <a:ext cx="2900001" cy="3156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3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the "Target Routes" (equity-priority) perform compared to the rest of the network?</a:t>
            </a:r>
            <a:endParaRPr lang="en-US" sz="1050" dirty="0"/>
          </a:p>
        </p:txBody>
      </p:sp>
      <p:sp>
        <p:nvSpPr>
          <p:cNvPr id="34" name="Text 15"/>
          <p:cNvSpPr/>
          <p:nvPr/>
        </p:nvSpPr>
        <p:spPr>
          <a:xfrm>
            <a:off x="8660543" y="3848500"/>
            <a:ext cx="3145338" cy="12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4"/>
              </a:lnSpc>
              <a:buNone/>
            </a:pPr>
            <a:r>
              <a:rPr lang="en-US" sz="900" b="1" spc="4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DISPARITIES</a:t>
            </a:r>
            <a:endParaRPr lang="en-US" sz="900" dirty="0"/>
          </a:p>
        </p:txBody>
      </p:sp>
      <p:sp>
        <p:nvSpPr>
          <p:cNvPr id="35" name="Text 16"/>
          <p:cNvSpPr/>
          <p:nvPr/>
        </p:nvSpPr>
        <p:spPr>
          <a:xfrm>
            <a:off x="8660543" y="4006337"/>
            <a:ext cx="2900001" cy="3156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3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there significant variations and clusters in service quality between different routes?</a:t>
            </a:r>
            <a:endParaRPr lang="en-US" sz="1050" dirty="0"/>
          </a:p>
        </p:txBody>
      </p:sp>
      <p:sp>
        <p:nvSpPr>
          <p:cNvPr id="36" name="Text 17"/>
          <p:cNvSpPr/>
          <p:nvPr/>
        </p:nvSpPr>
        <p:spPr>
          <a:xfrm>
            <a:off x="5318600" y="4763952"/>
            <a:ext cx="6241945" cy="12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4"/>
              </a:lnSpc>
              <a:buNone/>
            </a:pPr>
            <a:r>
              <a:rPr lang="en-US" sz="900" b="1" spc="43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EQUITY &amp; DEMOGRAPHICS</a:t>
            </a:r>
            <a:endParaRPr lang="en-US" sz="900" dirty="0"/>
          </a:p>
        </p:txBody>
      </p:sp>
      <p:sp>
        <p:nvSpPr>
          <p:cNvPr id="37" name="Text 18"/>
          <p:cNvSpPr/>
          <p:nvPr/>
        </p:nvSpPr>
        <p:spPr>
          <a:xfrm>
            <a:off x="5318600" y="4921789"/>
            <a:ext cx="6241945" cy="3156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3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service quality and performance metrics vary based on neighborhood minority population, poverty rates, or income levels?</a:t>
            </a:r>
            <a:endParaRPr lang="en-US" sz="1050" dirty="0"/>
          </a:p>
        </p:txBody>
      </p:sp>
      <p:sp>
        <p:nvSpPr>
          <p:cNvPr id="38" name="Text 19"/>
          <p:cNvSpPr/>
          <p:nvPr/>
        </p:nvSpPr>
        <p:spPr>
          <a:xfrm>
            <a:off x="5602706" y="5774106"/>
            <a:ext cx="5989405" cy="25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4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This analysis utilizes MBTA Open Data Portal and Census/ACS Demographics from the Boston Planning &amp; Development Agency.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7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61" y="435861"/>
            <a:ext cx="11320254" cy="135759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61" y="2120459"/>
            <a:ext cx="182602" cy="19047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61" y="2474490"/>
            <a:ext cx="5490082" cy="70827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808" y="2637938"/>
            <a:ext cx="980687" cy="16344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861" y="3291729"/>
            <a:ext cx="5490082" cy="70827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1377" y="3455177"/>
            <a:ext cx="1001118" cy="16344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861" y="4108969"/>
            <a:ext cx="5490082" cy="70827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8533" y="4272417"/>
            <a:ext cx="1293962" cy="16344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861" y="5782394"/>
            <a:ext cx="5490082" cy="63974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2839" y="2120353"/>
            <a:ext cx="5503276" cy="4301786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0769" y="2338390"/>
            <a:ext cx="209843" cy="190476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0769" y="2746903"/>
            <a:ext cx="217930" cy="21793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0769" y="3326952"/>
            <a:ext cx="213461" cy="21793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0769" y="4056827"/>
            <a:ext cx="204310" cy="21793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0769" y="4773082"/>
            <a:ext cx="209098" cy="21793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0769" y="5598302"/>
            <a:ext cx="5067416" cy="605907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599309" y="435861"/>
            <a:ext cx="19950674" cy="4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10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 &amp; METHODOLOGY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599309" y="947593"/>
            <a:ext cx="18703766" cy="1906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1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MBTA operational data with socio-economic indicators.</a:t>
            </a:r>
            <a:endParaRPr lang="en-US" sz="1350" dirty="0"/>
          </a:p>
        </p:txBody>
      </p:sp>
      <p:sp>
        <p:nvSpPr>
          <p:cNvPr id="21" name="Text 2"/>
          <p:cNvSpPr/>
          <p:nvPr/>
        </p:nvSpPr>
        <p:spPr>
          <a:xfrm>
            <a:off x="700187" y="2120353"/>
            <a:ext cx="6074723" cy="1906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1"/>
              </a:lnSpc>
              <a:buNone/>
            </a:pPr>
            <a:r>
              <a:rPr lang="en-US" sz="1500" b="1" spc="168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DATA ASSETS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599309" y="2637938"/>
            <a:ext cx="7769257" cy="1906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1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 Arrival/Departure Times</a:t>
            </a:r>
            <a:endParaRPr lang="en-US" sz="1350" dirty="0"/>
          </a:p>
        </p:txBody>
      </p:sp>
      <p:sp>
        <p:nvSpPr>
          <p:cNvPr id="23" name="Text 4"/>
          <p:cNvSpPr/>
          <p:nvPr/>
        </p:nvSpPr>
        <p:spPr>
          <a:xfrm>
            <a:off x="4863532" y="2637938"/>
            <a:ext cx="1961553" cy="1634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58"/>
              </a:lnSpc>
              <a:buNone/>
            </a:pPr>
            <a:r>
              <a:rPr lang="en-US" sz="900" b="1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~27M Records</a:t>
            </a:r>
            <a:endParaRPr lang="en-US" sz="900" dirty="0"/>
          </a:p>
        </p:txBody>
      </p:sp>
      <p:sp>
        <p:nvSpPr>
          <p:cNvPr id="24" name="Text 5"/>
          <p:cNvSpPr/>
          <p:nvPr/>
        </p:nvSpPr>
        <p:spPr>
          <a:xfrm>
            <a:off x="599309" y="2883110"/>
            <a:ext cx="18426715" cy="13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2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MBTA Open Data Portal (2020-2024). Used for delay and wait time calculations.</a:t>
            </a:r>
            <a:endParaRPr lang="en-US" sz="1050" dirty="0"/>
          </a:p>
        </p:txBody>
      </p:sp>
      <p:sp>
        <p:nvSpPr>
          <p:cNvPr id="25" name="Text 6"/>
          <p:cNvSpPr/>
          <p:nvPr/>
        </p:nvSpPr>
        <p:spPr>
          <a:xfrm>
            <a:off x="599309" y="3455177"/>
            <a:ext cx="6042755" cy="1906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1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 Ridership by Trip</a:t>
            </a:r>
            <a:endParaRPr lang="en-US" sz="1350" dirty="0"/>
          </a:p>
        </p:txBody>
      </p:sp>
      <p:sp>
        <p:nvSpPr>
          <p:cNvPr id="26" name="Text 7"/>
          <p:cNvSpPr/>
          <p:nvPr/>
        </p:nvSpPr>
        <p:spPr>
          <a:xfrm>
            <a:off x="4843101" y="3455177"/>
            <a:ext cx="2121750" cy="1634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58"/>
              </a:lnSpc>
              <a:buNone/>
            </a:pPr>
            <a:r>
              <a:rPr lang="en-US" sz="900" b="1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~1.8M Records</a:t>
            </a:r>
            <a:endParaRPr lang="en-US" sz="900" dirty="0"/>
          </a:p>
        </p:txBody>
      </p:sp>
      <p:sp>
        <p:nvSpPr>
          <p:cNvPr id="27" name="Text 8"/>
          <p:cNvSpPr/>
          <p:nvPr/>
        </p:nvSpPr>
        <p:spPr>
          <a:xfrm>
            <a:off x="599309" y="3700349"/>
            <a:ext cx="17307684" cy="13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2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MBTA Open Data Portal (2016-2024). Enables pre/post pandemic comparison.</a:t>
            </a:r>
            <a:endParaRPr lang="en-US" sz="1050" dirty="0"/>
          </a:p>
        </p:txBody>
      </p:sp>
      <p:sp>
        <p:nvSpPr>
          <p:cNvPr id="28" name="Text 9"/>
          <p:cNvSpPr/>
          <p:nvPr/>
        </p:nvSpPr>
        <p:spPr>
          <a:xfrm>
            <a:off x="599309" y="4272417"/>
            <a:ext cx="6618256" cy="1906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1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Census/ACS Demographics</a:t>
            </a:r>
            <a:endParaRPr lang="en-US" sz="1350" dirty="0"/>
          </a:p>
        </p:txBody>
      </p:sp>
      <p:sp>
        <p:nvSpPr>
          <p:cNvPr id="29" name="Text 10"/>
          <p:cNvSpPr/>
          <p:nvPr/>
        </p:nvSpPr>
        <p:spPr>
          <a:xfrm>
            <a:off x="4550257" y="4272417"/>
            <a:ext cx="2842967" cy="1634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58"/>
              </a:lnSpc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Neighborhood Level</a:t>
            </a:r>
            <a:endParaRPr lang="en-US" sz="900" dirty="0"/>
          </a:p>
        </p:txBody>
      </p:sp>
      <p:sp>
        <p:nvSpPr>
          <p:cNvPr id="30" name="Text 11"/>
          <p:cNvSpPr/>
          <p:nvPr/>
        </p:nvSpPr>
        <p:spPr>
          <a:xfrm>
            <a:off x="599309" y="4517588"/>
            <a:ext cx="16188653" cy="13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2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BPDA (2015-2019). Socio-economic profiling (Income, Poverty, Race).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544826" y="5891359"/>
            <a:ext cx="5272151" cy="1089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58"/>
              </a:lnSpc>
              <a:buNone/>
            </a:pPr>
            <a:r>
              <a:rPr lang="en-US" sz="900" b="1" spc="-50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LIMITATION NOTE</a:t>
            </a:r>
            <a:endParaRPr lang="en-US" sz="900" dirty="0"/>
          </a:p>
        </p:txBody>
      </p:sp>
      <p:sp>
        <p:nvSpPr>
          <p:cNvPr id="32" name="Text 13"/>
          <p:cNvSpPr/>
          <p:nvPr/>
        </p:nvSpPr>
        <p:spPr>
          <a:xfrm>
            <a:off x="544826" y="6027566"/>
            <a:ext cx="5272151" cy="28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9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2018-2019 Arrival data unavailable on portal; ridership analysis remains comprehensive for full 2016-2024 period.</a:t>
            </a:r>
            <a:endParaRPr lang="en-US" sz="900" dirty="0"/>
          </a:p>
        </p:txBody>
      </p:sp>
      <p:sp>
        <p:nvSpPr>
          <p:cNvPr id="33" name="Text 14"/>
          <p:cNvSpPr/>
          <p:nvPr/>
        </p:nvSpPr>
        <p:spPr>
          <a:xfrm>
            <a:off x="6762336" y="2338283"/>
            <a:ext cx="6074723" cy="1906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1"/>
              </a:lnSpc>
              <a:buNone/>
            </a:pPr>
            <a:r>
              <a:rPr lang="en-US" sz="1500" b="1" spc="168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PIPELINE</a:t>
            </a:r>
            <a:endParaRPr lang="en-US" sz="1500" dirty="0"/>
          </a:p>
        </p:txBody>
      </p:sp>
      <p:sp>
        <p:nvSpPr>
          <p:cNvPr id="34" name="Text 15"/>
          <p:cNvSpPr/>
          <p:nvPr/>
        </p:nvSpPr>
        <p:spPr>
          <a:xfrm>
            <a:off x="6494605" y="2746903"/>
            <a:ext cx="852594" cy="2179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6797665" y="2746903"/>
            <a:ext cx="4644644" cy="17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Chunked Loading</a:t>
            </a:r>
            <a:endParaRPr lang="en-US" sz="1350" dirty="0"/>
          </a:p>
        </p:txBody>
      </p:sp>
      <p:sp>
        <p:nvSpPr>
          <p:cNvPr id="36" name="Text 17"/>
          <p:cNvSpPr/>
          <p:nvPr/>
        </p:nvSpPr>
        <p:spPr>
          <a:xfrm>
            <a:off x="6797665" y="2972814"/>
            <a:ext cx="16114051" cy="13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2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massive CSV files in 500K-row chunks for memory efficiency.</a:t>
            </a:r>
            <a:endParaRPr lang="en-US" sz="1050" dirty="0"/>
          </a:p>
        </p:txBody>
      </p:sp>
      <p:sp>
        <p:nvSpPr>
          <p:cNvPr id="37" name="Text 18"/>
          <p:cNvSpPr/>
          <p:nvPr/>
        </p:nvSpPr>
        <p:spPr>
          <a:xfrm>
            <a:off x="6478750" y="3326952"/>
            <a:ext cx="852594" cy="2179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38" name="Text 19"/>
          <p:cNvSpPr/>
          <p:nvPr/>
        </p:nvSpPr>
        <p:spPr>
          <a:xfrm>
            <a:off x="6793195" y="3326952"/>
            <a:ext cx="4891754" cy="1714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Calculation</a:t>
            </a:r>
            <a:endParaRPr lang="en-US" sz="1350" dirty="0"/>
          </a:p>
        </p:txBody>
      </p:sp>
      <p:sp>
        <p:nvSpPr>
          <p:cNvPr id="39" name="Text 20"/>
          <p:cNvSpPr/>
          <p:nvPr/>
        </p:nvSpPr>
        <p:spPr>
          <a:xfrm>
            <a:off x="6793195" y="3552863"/>
            <a:ext cx="4744990" cy="28603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2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Parsing timestamps to compute </a:t>
            </a:r>
            <a:pPr indent="0" marL="0">
              <a:lnSpc>
                <a:spcPts val="1072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actual - scheduled</a:t>
            </a:r>
            <a:pPr indent="0" marL="0">
              <a:lnSpc>
                <a:spcPts val="1072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performance metrics.</a:t>
            </a:r>
            <a:endParaRPr lang="en-US" sz="1050" dirty="0"/>
          </a:p>
        </p:txBody>
      </p:sp>
      <p:sp>
        <p:nvSpPr>
          <p:cNvPr id="40" name="Text 21"/>
          <p:cNvSpPr/>
          <p:nvPr/>
        </p:nvSpPr>
        <p:spPr>
          <a:xfrm>
            <a:off x="6470769" y="4056827"/>
            <a:ext cx="852594" cy="2179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41" name="Text 22"/>
          <p:cNvSpPr/>
          <p:nvPr/>
        </p:nvSpPr>
        <p:spPr>
          <a:xfrm>
            <a:off x="6784044" y="4056827"/>
            <a:ext cx="5179505" cy="17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Mapping</a:t>
            </a:r>
            <a:endParaRPr lang="en-US" sz="1350" dirty="0"/>
          </a:p>
        </p:txBody>
      </p:sp>
      <p:sp>
        <p:nvSpPr>
          <p:cNvPr id="42" name="Text 23"/>
          <p:cNvSpPr/>
          <p:nvPr/>
        </p:nvSpPr>
        <p:spPr>
          <a:xfrm>
            <a:off x="6784044" y="4282738"/>
            <a:ext cx="4754141" cy="27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2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Mapping 2,910 bus stops to 22 neighborhoods using coordinate-based matching.</a:t>
            </a:r>
            <a:endParaRPr lang="en-US" sz="1050" dirty="0"/>
          </a:p>
        </p:txBody>
      </p:sp>
      <p:sp>
        <p:nvSpPr>
          <p:cNvPr id="43" name="Text 24"/>
          <p:cNvSpPr/>
          <p:nvPr/>
        </p:nvSpPr>
        <p:spPr>
          <a:xfrm>
            <a:off x="6473110" y="4773082"/>
            <a:ext cx="852594" cy="2179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44" name="Text 25"/>
          <p:cNvSpPr/>
          <p:nvPr/>
        </p:nvSpPr>
        <p:spPr>
          <a:xfrm>
            <a:off x="6788833" y="4773082"/>
            <a:ext cx="4749353" cy="1714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Equity Profiling</a:t>
            </a:r>
            <a:endParaRPr lang="en-US" sz="1350" dirty="0"/>
          </a:p>
        </p:txBody>
      </p:sp>
      <p:sp>
        <p:nvSpPr>
          <p:cNvPr id="45" name="Text 26"/>
          <p:cNvSpPr/>
          <p:nvPr/>
        </p:nvSpPr>
        <p:spPr>
          <a:xfrm>
            <a:off x="6788833" y="4998993"/>
            <a:ext cx="4749353" cy="27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2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demographic profiles for 210 routes based on neighborhoods served.</a:t>
            </a:r>
            <a:endParaRPr lang="en-US" sz="1050" dirty="0"/>
          </a:p>
        </p:txBody>
      </p:sp>
      <p:sp>
        <p:nvSpPr>
          <p:cNvPr id="46" name="Text 27"/>
          <p:cNvSpPr/>
          <p:nvPr/>
        </p:nvSpPr>
        <p:spPr>
          <a:xfrm>
            <a:off x="6470769" y="5816233"/>
            <a:ext cx="2479172" cy="24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30"/>
              </a:lnSpc>
              <a:buNone/>
            </a:pPr>
            <a:r>
              <a:rPr lang="en-US" sz="2250" b="1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2250" dirty="0"/>
          </a:p>
        </p:txBody>
      </p:sp>
      <p:sp>
        <p:nvSpPr>
          <p:cNvPr id="47" name="Text 28"/>
          <p:cNvSpPr/>
          <p:nvPr/>
        </p:nvSpPr>
        <p:spPr>
          <a:xfrm>
            <a:off x="6470769" y="6061404"/>
            <a:ext cx="2479172" cy="1428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NEIGHBORHOODS</a:t>
            </a:r>
            <a:endParaRPr lang="en-US" sz="750" dirty="0"/>
          </a:p>
        </p:txBody>
      </p:sp>
      <p:sp>
        <p:nvSpPr>
          <p:cNvPr id="48" name="Text 29"/>
          <p:cNvSpPr/>
          <p:nvPr/>
        </p:nvSpPr>
        <p:spPr>
          <a:xfrm>
            <a:off x="9058906" y="5816233"/>
            <a:ext cx="2479279" cy="24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30"/>
              </a:lnSpc>
              <a:buNone/>
            </a:pPr>
            <a:r>
              <a:rPr lang="en-US" sz="2250" b="1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210</a:t>
            </a:r>
            <a:endParaRPr lang="en-US" sz="2250" dirty="0"/>
          </a:p>
        </p:txBody>
      </p:sp>
      <p:sp>
        <p:nvSpPr>
          <p:cNvPr id="49" name="Text 30"/>
          <p:cNvSpPr/>
          <p:nvPr/>
        </p:nvSpPr>
        <p:spPr>
          <a:xfrm>
            <a:off x="9058906" y="6061404"/>
            <a:ext cx="2479279" cy="1428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 ROUTES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87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06" y="357933"/>
            <a:ext cx="715866" cy="5726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106" y="2344910"/>
            <a:ext cx="3634476" cy="10112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14" y="2516718"/>
            <a:ext cx="193284" cy="15223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106" y="3527991"/>
            <a:ext cx="3634476" cy="101127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14" y="3699799"/>
            <a:ext cx="150332" cy="15223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106" y="4711072"/>
            <a:ext cx="3634476" cy="101127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14" y="4882880"/>
            <a:ext cx="150332" cy="15223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106" y="5894153"/>
            <a:ext cx="3634476" cy="65759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5645" y="6037326"/>
            <a:ext cx="150332" cy="15223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1929" y="2344910"/>
            <a:ext cx="7268952" cy="420683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2864" y="3102498"/>
            <a:ext cx="3207082" cy="2720292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0244" y="6008915"/>
            <a:ext cx="85904" cy="85904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1313" y="6008915"/>
            <a:ext cx="85904" cy="8590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93305" y="6008915"/>
            <a:ext cx="85904" cy="85904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01106" y="558376"/>
            <a:ext cx="11189774" cy="4571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 Ridership Trends </a:t>
            </a:r>
            <a:pPr indent="0" marL="0">
              <a:lnSpc>
                <a:spcPts val="2029"/>
              </a:lnSpc>
              <a:buNone/>
            </a:pPr>
            <a:r>
              <a:rPr lang="en-US" sz="2250" b="1" spc="-9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(2016-2024)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501106" y="1130062"/>
            <a:ext cx="5497853" cy="9285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Ridership experienced a dramatic decline due to the pandemic. While recovery is underway, current volumes remain </a:t>
            </a:r>
            <a:pPr indent="0" marL="0">
              <a:lnSpc>
                <a:spcPts val="2438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32.8% below</a:t>
            </a:r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pre-2020 average.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952102" y="2535509"/>
            <a:ext cx="2919990" cy="11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02"/>
              </a:lnSpc>
              <a:buNone/>
            </a:pPr>
            <a:r>
              <a:rPr lang="en-US" sz="900" b="1" spc="9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PRE-PANDEMIC AVG</a:t>
            </a:r>
            <a:endParaRPr lang="en-US" sz="900" dirty="0"/>
          </a:p>
        </p:txBody>
      </p:sp>
      <p:sp>
        <p:nvSpPr>
          <p:cNvPr id="20" name="Text 3"/>
          <p:cNvSpPr/>
          <p:nvPr/>
        </p:nvSpPr>
        <p:spPr>
          <a:xfrm>
            <a:off x="672914" y="2726221"/>
            <a:ext cx="6022467" cy="2863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746,761</a:t>
            </a:r>
            <a:endParaRPr lang="en-US" sz="2700" dirty="0"/>
          </a:p>
        </p:txBody>
      </p:sp>
      <p:sp>
        <p:nvSpPr>
          <p:cNvPr id="21" name="Text 4"/>
          <p:cNvSpPr/>
          <p:nvPr/>
        </p:nvSpPr>
        <p:spPr>
          <a:xfrm>
            <a:off x="672914" y="3041202"/>
            <a:ext cx="7097192" cy="1431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7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Boardings (2016-2019)</a:t>
            </a:r>
            <a:endParaRPr lang="en-US" sz="1050" dirty="0"/>
          </a:p>
        </p:txBody>
      </p:sp>
      <p:sp>
        <p:nvSpPr>
          <p:cNvPr id="22" name="Text 5"/>
          <p:cNvSpPr/>
          <p:nvPr/>
        </p:nvSpPr>
        <p:spPr>
          <a:xfrm>
            <a:off x="909150" y="3718590"/>
            <a:ext cx="2737491" cy="11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02"/>
              </a:lnSpc>
              <a:buNone/>
            </a:pPr>
            <a:r>
              <a:rPr lang="en-US" sz="900" b="1" spc="9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PANDEMIC IMPACT</a:t>
            </a:r>
            <a:endParaRPr lang="en-US" sz="900" dirty="0"/>
          </a:p>
        </p:txBody>
      </p:sp>
      <p:sp>
        <p:nvSpPr>
          <p:cNvPr id="23" name="Text 6"/>
          <p:cNvSpPr/>
          <p:nvPr/>
        </p:nvSpPr>
        <p:spPr>
          <a:xfrm>
            <a:off x="672914" y="3909301"/>
            <a:ext cx="4379976" cy="2863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5"/>
              </a:lnSpc>
              <a:buNone/>
            </a:pPr>
            <a:r>
              <a:rPr lang="en-US" sz="27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-51.3%</a:t>
            </a:r>
            <a:endParaRPr lang="en-US" sz="2700" dirty="0"/>
          </a:p>
        </p:txBody>
      </p:sp>
      <p:sp>
        <p:nvSpPr>
          <p:cNvPr id="24" name="Text 7"/>
          <p:cNvSpPr/>
          <p:nvPr/>
        </p:nvSpPr>
        <p:spPr>
          <a:xfrm>
            <a:off x="672914" y="4224283"/>
            <a:ext cx="7168164" cy="1431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7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Sharp decline in 2020 ridership</a:t>
            </a:r>
            <a:endParaRPr lang="en-US" sz="1050" dirty="0"/>
          </a:p>
        </p:txBody>
      </p:sp>
      <p:sp>
        <p:nvSpPr>
          <p:cNvPr id="25" name="Text 8"/>
          <p:cNvSpPr/>
          <p:nvPr/>
        </p:nvSpPr>
        <p:spPr>
          <a:xfrm>
            <a:off x="909150" y="4901671"/>
            <a:ext cx="2859157" cy="11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02"/>
              </a:lnSpc>
              <a:buNone/>
            </a:pPr>
            <a:r>
              <a:rPr lang="en-US" sz="900" b="1" spc="9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 RECOVERY</a:t>
            </a:r>
            <a:endParaRPr lang="en-US" sz="900" dirty="0"/>
          </a:p>
        </p:txBody>
      </p:sp>
      <p:sp>
        <p:nvSpPr>
          <p:cNvPr id="26" name="Text 9"/>
          <p:cNvSpPr/>
          <p:nvPr/>
        </p:nvSpPr>
        <p:spPr>
          <a:xfrm>
            <a:off x="672914" y="5092383"/>
            <a:ext cx="6022467" cy="2863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5"/>
              </a:lnSpc>
              <a:buNone/>
            </a:pPr>
            <a:r>
              <a:rPr lang="en-US" sz="27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616,157</a:t>
            </a:r>
            <a:endParaRPr lang="en-US" sz="2700" dirty="0"/>
          </a:p>
        </p:txBody>
      </p:sp>
      <p:sp>
        <p:nvSpPr>
          <p:cNvPr id="27" name="Text 10"/>
          <p:cNvSpPr/>
          <p:nvPr/>
        </p:nvSpPr>
        <p:spPr>
          <a:xfrm>
            <a:off x="672914" y="5407364"/>
            <a:ext cx="7877883" cy="1431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7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Strongest post-pandemic recovery year</a:t>
            </a:r>
            <a:endParaRPr lang="en-US" sz="1050" dirty="0"/>
          </a:p>
        </p:txBody>
      </p:sp>
      <p:sp>
        <p:nvSpPr>
          <p:cNvPr id="28" name="Text 11"/>
          <p:cNvSpPr/>
          <p:nvPr/>
        </p:nvSpPr>
        <p:spPr>
          <a:xfrm>
            <a:off x="851881" y="6008691"/>
            <a:ext cx="3169163" cy="42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2024 data is partial (through available months), showing a projected lower total compared to the 2023 peak.</a:t>
            </a:r>
            <a:endParaRPr lang="en-US" sz="900" dirty="0"/>
          </a:p>
        </p:txBody>
      </p:sp>
      <p:sp>
        <p:nvSpPr>
          <p:cNvPr id="29" name="Text 12"/>
          <p:cNvSpPr/>
          <p:nvPr/>
        </p:nvSpPr>
        <p:spPr>
          <a:xfrm>
            <a:off x="2992058" y="2787516"/>
            <a:ext cx="10128695" cy="2004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Bus Ridership Trend (Millions)</a:t>
            </a:r>
            <a:endParaRPr lang="en-US" sz="1350" dirty="0"/>
          </a:p>
        </p:txBody>
      </p:sp>
      <p:sp>
        <p:nvSpPr>
          <p:cNvPr id="30" name="Text 13"/>
          <p:cNvSpPr/>
          <p:nvPr/>
        </p:nvSpPr>
        <p:spPr>
          <a:xfrm>
            <a:off x="6703418" y="5994598"/>
            <a:ext cx="2189993" cy="11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02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Pre-Pandemic</a:t>
            </a:r>
            <a:endParaRPr lang="en-US" sz="900" dirty="0"/>
          </a:p>
        </p:txBody>
      </p:sp>
      <p:sp>
        <p:nvSpPr>
          <p:cNvPr id="31" name="Text 14"/>
          <p:cNvSpPr/>
          <p:nvPr/>
        </p:nvSpPr>
        <p:spPr>
          <a:xfrm>
            <a:off x="7834486" y="5994598"/>
            <a:ext cx="1459995" cy="11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02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Pandemic</a:t>
            </a:r>
            <a:endParaRPr lang="en-US" sz="900" dirty="0"/>
          </a:p>
        </p:txBody>
      </p:sp>
      <p:sp>
        <p:nvSpPr>
          <p:cNvPr id="32" name="Text 15"/>
          <p:cNvSpPr/>
          <p:nvPr/>
        </p:nvSpPr>
        <p:spPr>
          <a:xfrm>
            <a:off x="8736478" y="5994598"/>
            <a:ext cx="2372492" cy="11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02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Post-Pandemic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89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62100"/>
            <a:ext cx="2590800" cy="10382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90700"/>
            <a:ext cx="152400" cy="152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52725"/>
            <a:ext cx="2590800" cy="1028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981325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933825"/>
            <a:ext cx="2590800" cy="10382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16242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124450"/>
            <a:ext cx="2590800" cy="10382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53530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2800" y="1562100"/>
            <a:ext cx="4521101" cy="48196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0" y="1914525"/>
            <a:ext cx="171450" cy="1714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0" y="2286000"/>
            <a:ext cx="3895725" cy="37909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8701" y="1562100"/>
            <a:ext cx="3556099" cy="48196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3501" y="2562225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69226" y="2638425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83501" y="3743325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12088" y="3819525"/>
            <a:ext cx="200025" cy="304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83501" y="4924425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69226" y="5000625"/>
            <a:ext cx="285750" cy="3048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457200"/>
            <a:ext cx="2359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Citywide Operational </a:t>
            </a:r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and Delays</a:t>
            </a: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457200" y="990600"/>
            <a:ext cx="1851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Boston buses average a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7.51-minute delay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only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31.7% on-time performance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952500" y="179070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36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DELAY</a:t>
            </a:r>
            <a:endParaRPr lang="en-US" sz="900" dirty="0"/>
          </a:p>
        </p:txBody>
      </p:sp>
      <p:sp>
        <p:nvSpPr>
          <p:cNvPr id="24" name="Text 3"/>
          <p:cNvSpPr/>
          <p:nvPr/>
        </p:nvSpPr>
        <p:spPr>
          <a:xfrm>
            <a:off x="685800" y="1981200"/>
            <a:ext cx="2133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7.51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</a:t>
            </a:r>
            <a:endParaRPr lang="en-US" sz="2700" dirty="0"/>
          </a:p>
        </p:txBody>
      </p:sp>
      <p:sp>
        <p:nvSpPr>
          <p:cNvPr id="25" name="Text 4"/>
          <p:cNvSpPr/>
          <p:nvPr/>
        </p:nvSpPr>
        <p:spPr>
          <a:xfrm>
            <a:off x="952500" y="2981325"/>
            <a:ext cx="2606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36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ON-TIME PERFORMANCE</a:t>
            </a:r>
            <a:endParaRPr lang="en-US" sz="900" dirty="0"/>
          </a:p>
        </p:txBody>
      </p:sp>
      <p:sp>
        <p:nvSpPr>
          <p:cNvPr id="26" name="Text 5"/>
          <p:cNvSpPr/>
          <p:nvPr/>
        </p:nvSpPr>
        <p:spPr>
          <a:xfrm>
            <a:off x="685800" y="3171825"/>
            <a:ext cx="2880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31.7%</a:t>
            </a:r>
            <a:endParaRPr lang="en-US" sz="2700" dirty="0"/>
          </a:p>
        </p:txBody>
      </p:sp>
      <p:sp>
        <p:nvSpPr>
          <p:cNvPr id="27" name="Text 6"/>
          <p:cNvSpPr/>
          <p:nvPr/>
        </p:nvSpPr>
        <p:spPr>
          <a:xfrm>
            <a:off x="952500" y="4162425"/>
            <a:ext cx="1645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36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DELAY</a:t>
            </a:r>
            <a:endParaRPr lang="en-US" sz="900" dirty="0"/>
          </a:p>
        </p:txBody>
      </p:sp>
      <p:sp>
        <p:nvSpPr>
          <p:cNvPr id="28" name="Text 7"/>
          <p:cNvSpPr/>
          <p:nvPr/>
        </p:nvSpPr>
        <p:spPr>
          <a:xfrm>
            <a:off x="685800" y="4352925"/>
            <a:ext cx="2133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1.34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</a:t>
            </a:r>
            <a:endParaRPr lang="en-US" sz="2700" dirty="0"/>
          </a:p>
        </p:txBody>
      </p:sp>
      <p:sp>
        <p:nvSpPr>
          <p:cNvPr id="29" name="Text 8"/>
          <p:cNvSpPr/>
          <p:nvPr/>
        </p:nvSpPr>
        <p:spPr>
          <a:xfrm>
            <a:off x="952500" y="5353050"/>
            <a:ext cx="2240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36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95TH PERCENTILE</a:t>
            </a:r>
            <a:endParaRPr lang="en-US" sz="900" dirty="0"/>
          </a:p>
        </p:txBody>
      </p:sp>
      <p:sp>
        <p:nvSpPr>
          <p:cNvPr id="30" name="Text 9"/>
          <p:cNvSpPr/>
          <p:nvPr/>
        </p:nvSpPr>
        <p:spPr>
          <a:xfrm>
            <a:off x="685800" y="5543550"/>
            <a:ext cx="2133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42.6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</a:t>
            </a:r>
            <a:endParaRPr lang="en-US" sz="2700" dirty="0"/>
          </a:p>
        </p:txBody>
      </p:sp>
      <p:sp>
        <p:nvSpPr>
          <p:cNvPr id="31" name="Text 10"/>
          <p:cNvSpPr/>
          <p:nvPr/>
        </p:nvSpPr>
        <p:spPr>
          <a:xfrm>
            <a:off x="3905250" y="1866900"/>
            <a:ext cx="5760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Category Breakdown (%)</a:t>
            </a:r>
            <a:endParaRPr lang="en-US" sz="1350" dirty="0"/>
          </a:p>
        </p:txBody>
      </p:sp>
      <p:sp>
        <p:nvSpPr>
          <p:cNvPr id="32" name="Text 11"/>
          <p:cNvSpPr/>
          <p:nvPr/>
        </p:nvSpPr>
        <p:spPr>
          <a:xfrm>
            <a:off x="8483501" y="2143125"/>
            <a:ext cx="3520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PEAK PATTERNS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9093101" y="25622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Evening Rush Hour</a:t>
            </a:r>
            <a:endParaRPr lang="en-US" sz="1500" dirty="0"/>
          </a:p>
        </p:txBody>
      </p:sp>
      <p:sp>
        <p:nvSpPr>
          <p:cNvPr id="34" name="Text 13"/>
          <p:cNvSpPr/>
          <p:nvPr/>
        </p:nvSpPr>
        <p:spPr>
          <a:xfrm>
            <a:off x="9093101" y="2867025"/>
            <a:ext cx="233689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delays recorded between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 PM – 7:00 PM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due to peak urban congestion.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9093101" y="3743325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Seasonality</a:t>
            </a:r>
            <a:endParaRPr lang="en-US" sz="1500" dirty="0"/>
          </a:p>
        </p:txBody>
      </p:sp>
      <p:sp>
        <p:nvSpPr>
          <p:cNvPr id="36" name="Text 15"/>
          <p:cNvSpPr/>
          <p:nvPr/>
        </p:nvSpPr>
        <p:spPr>
          <a:xfrm>
            <a:off x="9093101" y="4048125"/>
            <a:ext cx="233689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performance degradation during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Winter Months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(weather-related disruptions).</a:t>
            </a:r>
            <a:endParaRPr lang="en-US" sz="1050" dirty="0"/>
          </a:p>
        </p:txBody>
      </p:sp>
      <p:sp>
        <p:nvSpPr>
          <p:cNvPr id="37" name="Text 16"/>
          <p:cNvSpPr/>
          <p:nvPr/>
        </p:nvSpPr>
        <p:spPr>
          <a:xfrm>
            <a:off x="9093101" y="49244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Weekend Stability</a:t>
            </a:r>
            <a:endParaRPr lang="en-US" sz="1500" dirty="0"/>
          </a:p>
        </p:txBody>
      </p:sp>
      <p:sp>
        <p:nvSpPr>
          <p:cNvPr id="38" name="Text 17"/>
          <p:cNvSpPr/>
          <p:nvPr/>
        </p:nvSpPr>
        <p:spPr>
          <a:xfrm>
            <a:off x="9093101" y="5229225"/>
            <a:ext cx="233689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exhibits slightly higher reliability and better on-time performance on weekends.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151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2600"/>
            <a:ext cx="3479750" cy="1676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57600"/>
            <a:ext cx="1663601" cy="9810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7501" y="3657600"/>
            <a:ext cx="1663750" cy="9810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095875"/>
            <a:ext cx="289620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320" y="5095875"/>
            <a:ext cx="289620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139" y="5095875"/>
            <a:ext cx="289620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8959" y="5095875"/>
            <a:ext cx="289620" cy="228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4778" y="5095875"/>
            <a:ext cx="28962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00598" y="5095875"/>
            <a:ext cx="289620" cy="228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66417" y="5095875"/>
            <a:ext cx="289620" cy="228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32237" y="5095875"/>
            <a:ext cx="289620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98056" y="5095875"/>
            <a:ext cx="289620" cy="228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5400675"/>
            <a:ext cx="289620" cy="228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320" y="5400675"/>
            <a:ext cx="289620" cy="228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03139" y="5400675"/>
            <a:ext cx="289620" cy="2286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68959" y="5400675"/>
            <a:ext cx="289620" cy="2286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34778" y="5400675"/>
            <a:ext cx="289620" cy="2286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00598" y="5400675"/>
            <a:ext cx="358229" cy="2286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56050" y="1752600"/>
            <a:ext cx="4690616" cy="41910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08450" y="1933575"/>
            <a:ext cx="133350" cy="1333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08450" y="2247900"/>
            <a:ext cx="4381500" cy="35433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99066" y="1752600"/>
            <a:ext cx="2421434" cy="41910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99066" y="1752600"/>
            <a:ext cx="2421434" cy="3810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76308" y="3105150"/>
            <a:ext cx="2266950" cy="18669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56050" y="6096000"/>
            <a:ext cx="7264450" cy="638175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08450" y="6262688"/>
            <a:ext cx="228600" cy="3048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571500" y="381000"/>
            <a:ext cx="1700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Gaps: </a:t>
            </a:r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Routes</a:t>
            </a:r>
            <a:endParaRPr lang="en-US" sz="3600" dirty="0"/>
          </a:p>
        </p:txBody>
      </p:sp>
      <p:sp>
        <p:nvSpPr>
          <p:cNvPr id="30" name="Text 1"/>
          <p:cNvSpPr/>
          <p:nvPr/>
        </p:nvSpPr>
        <p:spPr>
          <a:xfrm>
            <a:off x="571500" y="914400"/>
            <a:ext cx="2034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service disparities for equity-priority routes serving underserved communities.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800100" y="1981200"/>
            <a:ext cx="302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DISPARITY</a:t>
            </a:r>
            <a:endParaRPr lang="en-US" sz="1050" dirty="0"/>
          </a:p>
        </p:txBody>
      </p:sp>
      <p:sp>
        <p:nvSpPr>
          <p:cNvPr id="32" name="Text 3"/>
          <p:cNvSpPr/>
          <p:nvPr/>
        </p:nvSpPr>
        <p:spPr>
          <a:xfrm>
            <a:off x="800100" y="2171700"/>
            <a:ext cx="3657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+41%</a:t>
            </a:r>
            <a:endParaRPr lang="en-US" sz="4500" dirty="0"/>
          </a:p>
        </p:txBody>
      </p:sp>
      <p:sp>
        <p:nvSpPr>
          <p:cNvPr id="33" name="Text 4"/>
          <p:cNvSpPr/>
          <p:nvPr/>
        </p:nvSpPr>
        <p:spPr>
          <a:xfrm>
            <a:off x="2466975" y="2476500"/>
            <a:ext cx="2468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Delay</a:t>
            </a:r>
            <a:endParaRPr lang="en-US" sz="1350" dirty="0"/>
          </a:p>
        </p:txBody>
      </p:sp>
      <p:sp>
        <p:nvSpPr>
          <p:cNvPr id="34" name="Text 5"/>
          <p:cNvSpPr/>
          <p:nvPr/>
        </p:nvSpPr>
        <p:spPr>
          <a:xfrm>
            <a:off x="800100" y="2819400"/>
            <a:ext cx="3022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routes experience significantly higher average delays compared to citywide averages.</a:t>
            </a:r>
            <a:endParaRPr lang="en-US" sz="1050" dirty="0"/>
          </a:p>
        </p:txBody>
      </p:sp>
      <p:sp>
        <p:nvSpPr>
          <p:cNvPr id="35" name="Text 6"/>
          <p:cNvSpPr/>
          <p:nvPr/>
        </p:nvSpPr>
        <p:spPr>
          <a:xfrm>
            <a:off x="723900" y="381000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OTP</a:t>
            </a:r>
            <a:endParaRPr lang="en-US" sz="900" dirty="0"/>
          </a:p>
        </p:txBody>
      </p:sp>
      <p:sp>
        <p:nvSpPr>
          <p:cNvPr id="36" name="Text 7"/>
          <p:cNvSpPr/>
          <p:nvPr/>
        </p:nvSpPr>
        <p:spPr>
          <a:xfrm>
            <a:off x="723900" y="3962400"/>
            <a:ext cx="2400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25.8%</a:t>
            </a:r>
            <a:endParaRPr lang="en-US" sz="2250" dirty="0"/>
          </a:p>
        </p:txBody>
      </p:sp>
      <p:sp>
        <p:nvSpPr>
          <p:cNvPr id="37" name="Text 8"/>
          <p:cNvSpPr/>
          <p:nvPr/>
        </p:nvSpPr>
        <p:spPr>
          <a:xfrm>
            <a:off x="723900" y="4343400"/>
            <a:ext cx="2171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On-Time Performance</a:t>
            </a:r>
            <a:endParaRPr lang="en-US" sz="750" dirty="0"/>
          </a:p>
        </p:txBody>
      </p:sp>
      <p:sp>
        <p:nvSpPr>
          <p:cNvPr id="38" name="Text 9"/>
          <p:cNvSpPr/>
          <p:nvPr/>
        </p:nvSpPr>
        <p:spPr>
          <a:xfrm>
            <a:off x="2539901" y="3810000"/>
            <a:ext cx="1358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OTP</a:t>
            </a:r>
            <a:endParaRPr lang="en-US" sz="900" dirty="0"/>
          </a:p>
        </p:txBody>
      </p:sp>
      <p:sp>
        <p:nvSpPr>
          <p:cNvPr id="39" name="Text 10"/>
          <p:cNvSpPr/>
          <p:nvPr/>
        </p:nvSpPr>
        <p:spPr>
          <a:xfrm>
            <a:off x="2539901" y="3962400"/>
            <a:ext cx="2400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32.3%</a:t>
            </a:r>
            <a:endParaRPr lang="en-US" sz="2250" dirty="0"/>
          </a:p>
        </p:txBody>
      </p:sp>
      <p:sp>
        <p:nvSpPr>
          <p:cNvPr id="40" name="Text 11"/>
          <p:cNvSpPr/>
          <p:nvPr/>
        </p:nvSpPr>
        <p:spPr>
          <a:xfrm>
            <a:off x="2539901" y="4343400"/>
            <a:ext cx="2171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On-Time Performance</a:t>
            </a:r>
            <a:endParaRPr lang="en-US" sz="750" dirty="0"/>
          </a:p>
        </p:txBody>
      </p:sp>
      <p:sp>
        <p:nvSpPr>
          <p:cNvPr id="41" name="Text 12"/>
          <p:cNvSpPr/>
          <p:nvPr/>
        </p:nvSpPr>
        <p:spPr>
          <a:xfrm>
            <a:off x="571500" y="4867275"/>
            <a:ext cx="3479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EQUITY PRIORITY ROUTES</a:t>
            </a:r>
            <a:endParaRPr lang="en-US" sz="900" dirty="0"/>
          </a:p>
        </p:txBody>
      </p:sp>
      <p:sp>
        <p:nvSpPr>
          <p:cNvPr id="42" name="Text 13"/>
          <p:cNvSpPr/>
          <p:nvPr/>
        </p:nvSpPr>
        <p:spPr>
          <a:xfrm>
            <a:off x="647700" y="5095875"/>
            <a:ext cx="21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900" dirty="0"/>
          </a:p>
        </p:txBody>
      </p:sp>
      <p:sp>
        <p:nvSpPr>
          <p:cNvPr id="43" name="Text 14"/>
          <p:cNvSpPr/>
          <p:nvPr/>
        </p:nvSpPr>
        <p:spPr>
          <a:xfrm>
            <a:off x="1013520" y="5095875"/>
            <a:ext cx="21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900" dirty="0"/>
          </a:p>
        </p:txBody>
      </p:sp>
      <p:sp>
        <p:nvSpPr>
          <p:cNvPr id="44" name="Text 15"/>
          <p:cNvSpPr/>
          <p:nvPr/>
        </p:nvSpPr>
        <p:spPr>
          <a:xfrm>
            <a:off x="1379339" y="5095875"/>
            <a:ext cx="21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900" dirty="0"/>
          </a:p>
        </p:txBody>
      </p:sp>
      <p:sp>
        <p:nvSpPr>
          <p:cNvPr id="45" name="Text 16"/>
          <p:cNvSpPr/>
          <p:nvPr/>
        </p:nvSpPr>
        <p:spPr>
          <a:xfrm>
            <a:off x="1745159" y="5095875"/>
            <a:ext cx="21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endParaRPr lang="en-US" sz="900" dirty="0"/>
          </a:p>
        </p:txBody>
      </p:sp>
      <p:sp>
        <p:nvSpPr>
          <p:cNvPr id="46" name="Text 17"/>
          <p:cNvSpPr/>
          <p:nvPr/>
        </p:nvSpPr>
        <p:spPr>
          <a:xfrm>
            <a:off x="2110978" y="5095875"/>
            <a:ext cx="21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endParaRPr lang="en-US" sz="900" dirty="0"/>
          </a:p>
        </p:txBody>
      </p:sp>
      <p:sp>
        <p:nvSpPr>
          <p:cNvPr id="47" name="Text 18"/>
          <p:cNvSpPr/>
          <p:nvPr/>
        </p:nvSpPr>
        <p:spPr>
          <a:xfrm>
            <a:off x="2476798" y="5095875"/>
            <a:ext cx="21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</a:t>
            </a:r>
            <a:endParaRPr lang="en-US" sz="900" dirty="0"/>
          </a:p>
        </p:txBody>
      </p:sp>
      <p:sp>
        <p:nvSpPr>
          <p:cNvPr id="48" name="Text 19"/>
          <p:cNvSpPr/>
          <p:nvPr/>
        </p:nvSpPr>
        <p:spPr>
          <a:xfrm>
            <a:off x="2842617" y="5095875"/>
            <a:ext cx="21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26</a:t>
            </a:r>
            <a:endParaRPr lang="en-US" sz="900" dirty="0"/>
          </a:p>
        </p:txBody>
      </p:sp>
      <p:sp>
        <p:nvSpPr>
          <p:cNvPr id="49" name="Text 20"/>
          <p:cNvSpPr/>
          <p:nvPr/>
        </p:nvSpPr>
        <p:spPr>
          <a:xfrm>
            <a:off x="3208437" y="5095875"/>
            <a:ext cx="21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28</a:t>
            </a:r>
            <a:endParaRPr lang="en-US" sz="900" dirty="0"/>
          </a:p>
        </p:txBody>
      </p:sp>
      <p:sp>
        <p:nvSpPr>
          <p:cNvPr id="50" name="Text 21"/>
          <p:cNvSpPr/>
          <p:nvPr/>
        </p:nvSpPr>
        <p:spPr>
          <a:xfrm>
            <a:off x="3574256" y="5095875"/>
            <a:ext cx="21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29</a:t>
            </a:r>
            <a:endParaRPr lang="en-US" sz="900" dirty="0"/>
          </a:p>
        </p:txBody>
      </p:sp>
      <p:sp>
        <p:nvSpPr>
          <p:cNvPr id="51" name="Text 22"/>
          <p:cNvSpPr/>
          <p:nvPr/>
        </p:nvSpPr>
        <p:spPr>
          <a:xfrm>
            <a:off x="647700" y="5400675"/>
            <a:ext cx="21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31</a:t>
            </a:r>
            <a:endParaRPr lang="en-US" sz="900" dirty="0"/>
          </a:p>
        </p:txBody>
      </p:sp>
      <p:sp>
        <p:nvSpPr>
          <p:cNvPr id="52" name="Text 23"/>
          <p:cNvSpPr/>
          <p:nvPr/>
        </p:nvSpPr>
        <p:spPr>
          <a:xfrm>
            <a:off x="1013520" y="5400675"/>
            <a:ext cx="21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33</a:t>
            </a:r>
            <a:endParaRPr lang="en-US" sz="900" dirty="0"/>
          </a:p>
        </p:txBody>
      </p:sp>
      <p:sp>
        <p:nvSpPr>
          <p:cNvPr id="53" name="Text 24"/>
          <p:cNvSpPr/>
          <p:nvPr/>
        </p:nvSpPr>
        <p:spPr>
          <a:xfrm>
            <a:off x="1379339" y="5400675"/>
            <a:ext cx="21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42</a:t>
            </a:r>
            <a:endParaRPr lang="en-US" sz="900" dirty="0"/>
          </a:p>
        </p:txBody>
      </p:sp>
      <p:sp>
        <p:nvSpPr>
          <p:cNvPr id="54" name="Text 25"/>
          <p:cNvSpPr/>
          <p:nvPr/>
        </p:nvSpPr>
        <p:spPr>
          <a:xfrm>
            <a:off x="1745159" y="5400675"/>
            <a:ext cx="21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44</a:t>
            </a:r>
            <a:endParaRPr lang="en-US" sz="900" dirty="0"/>
          </a:p>
        </p:txBody>
      </p:sp>
      <p:sp>
        <p:nvSpPr>
          <p:cNvPr id="55" name="Text 26"/>
          <p:cNvSpPr/>
          <p:nvPr/>
        </p:nvSpPr>
        <p:spPr>
          <a:xfrm>
            <a:off x="2110978" y="5400675"/>
            <a:ext cx="21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45</a:t>
            </a:r>
            <a:endParaRPr lang="en-US" sz="900" dirty="0"/>
          </a:p>
        </p:txBody>
      </p:sp>
      <p:sp>
        <p:nvSpPr>
          <p:cNvPr id="56" name="Text 27"/>
          <p:cNvSpPr/>
          <p:nvPr/>
        </p:nvSpPr>
        <p:spPr>
          <a:xfrm>
            <a:off x="2476798" y="5400675"/>
            <a:ext cx="3940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111</a:t>
            </a:r>
            <a:endParaRPr lang="en-US" sz="900" dirty="0"/>
          </a:p>
        </p:txBody>
      </p:sp>
      <p:sp>
        <p:nvSpPr>
          <p:cNvPr id="57" name="Text 28"/>
          <p:cNvSpPr/>
          <p:nvPr/>
        </p:nvSpPr>
        <p:spPr>
          <a:xfrm>
            <a:off x="4718000" y="1905000"/>
            <a:ext cx="4960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Delay Comparison (Minutes)</a:t>
            </a:r>
            <a:endParaRPr lang="en-US" sz="1050" dirty="0"/>
          </a:p>
        </p:txBody>
      </p:sp>
      <p:sp>
        <p:nvSpPr>
          <p:cNvPr id="58" name="Text 29"/>
          <p:cNvSpPr/>
          <p:nvPr/>
        </p:nvSpPr>
        <p:spPr>
          <a:xfrm>
            <a:off x="9313366" y="1752600"/>
            <a:ext cx="33537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-3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DISTRIBUTION ANALYSIS</a:t>
            </a:r>
            <a:endParaRPr lang="en-US" sz="900" dirty="0"/>
          </a:p>
        </p:txBody>
      </p:sp>
      <p:sp>
        <p:nvSpPr>
          <p:cNvPr id="59" name="Text 30"/>
          <p:cNvSpPr/>
          <p:nvPr/>
        </p:nvSpPr>
        <p:spPr>
          <a:xfrm>
            <a:off x="4889450" y="6248400"/>
            <a:ext cx="65786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Insight:</a:t>
            </a:r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clustering of target routes in the lower performance tier creates significant time-poverty for residents in transit-dependent vulnerable neighborhoods.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03" y="271335"/>
            <a:ext cx="542671" cy="40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003" y="1973116"/>
            <a:ext cx="4464314" cy="140734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804" y="2135918"/>
            <a:ext cx="189935" cy="19035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003" y="3543258"/>
            <a:ext cx="4464314" cy="227211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804" y="4004528"/>
            <a:ext cx="4138712" cy="39142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804" y="4504484"/>
            <a:ext cx="4138712" cy="39142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205" y="4623935"/>
            <a:ext cx="149234" cy="15241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804" y="5004441"/>
            <a:ext cx="4138712" cy="39142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205" y="5123892"/>
            <a:ext cx="169585" cy="15241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8385" y="1973116"/>
            <a:ext cx="6696577" cy="179081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96919" y="2090872"/>
            <a:ext cx="169584" cy="171386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96919" y="2352986"/>
            <a:ext cx="6479509" cy="130240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88385" y="3872464"/>
            <a:ext cx="6696577" cy="179081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96919" y="3990219"/>
            <a:ext cx="149234" cy="171387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96919" y="4252333"/>
            <a:ext cx="6479509" cy="130241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7003" y="5978174"/>
            <a:ext cx="11377959" cy="608491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5537" y="6113842"/>
            <a:ext cx="115317" cy="152414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07003" y="447703"/>
            <a:ext cx="27733752" cy="2713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36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Disparities and Reliability Distribution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407003" y="827573"/>
            <a:ext cx="6946184" cy="9284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7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variation exists in service quality, where the bottom 10% of routes achieve less than 20% on-time performance, often correlated with high-ridership capacity constraints.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841140" y="2135918"/>
            <a:ext cx="5456866" cy="1903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96"/>
              </a:lnSpc>
              <a:buNone/>
            </a:pPr>
            <a:r>
              <a:rPr lang="en-US" sz="15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Range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569804" y="2434811"/>
            <a:ext cx="4194308" cy="22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10% Routes: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4023394" y="2440534"/>
            <a:ext cx="2054352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9"/>
              </a:lnSpc>
              <a:buNone/>
            </a:pPr>
            <a:r>
              <a:rPr lang="en-US" sz="18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45%+</a:t>
            </a:r>
            <a:endParaRPr lang="en-US" sz="1800" dirty="0"/>
          </a:p>
        </p:txBody>
      </p:sp>
      <p:sp>
        <p:nvSpPr>
          <p:cNvPr id="25" name="Text 5"/>
          <p:cNvSpPr/>
          <p:nvPr/>
        </p:nvSpPr>
        <p:spPr>
          <a:xfrm>
            <a:off x="569804" y="2771966"/>
            <a:ext cx="4964691" cy="22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10% Routes: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4023394" y="2777689"/>
            <a:ext cx="2054352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9"/>
              </a:lnSpc>
              <a:buNone/>
            </a:pPr>
            <a:r>
              <a:rPr lang="en-US" sz="18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&lt;20%</a:t>
            </a:r>
            <a:endParaRPr lang="en-US" sz="1800" dirty="0"/>
          </a:p>
        </p:txBody>
      </p:sp>
      <p:sp>
        <p:nvSpPr>
          <p:cNvPr id="27" name="Text 7"/>
          <p:cNvSpPr/>
          <p:nvPr/>
        </p:nvSpPr>
        <p:spPr>
          <a:xfrm>
            <a:off x="569804" y="3109121"/>
            <a:ext cx="4814888" cy="10853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55"/>
              </a:lnSpc>
              <a:buNone/>
            </a:pPr>
            <a:r>
              <a:rPr lang="en-US" sz="9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On-time performance rates</a:t>
            </a:r>
            <a:endParaRPr lang="en-US" sz="900" dirty="0"/>
          </a:p>
        </p:txBody>
      </p:sp>
      <p:sp>
        <p:nvSpPr>
          <p:cNvPr id="28" name="Text 8"/>
          <p:cNvSpPr/>
          <p:nvPr/>
        </p:nvSpPr>
        <p:spPr>
          <a:xfrm>
            <a:off x="651205" y="3706059"/>
            <a:ext cx="7222331" cy="1899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96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Variation Metrics</a:t>
            </a:r>
            <a:endParaRPr lang="en-US" sz="1350" dirty="0"/>
          </a:p>
        </p:txBody>
      </p:sp>
      <p:sp>
        <p:nvSpPr>
          <p:cNvPr id="29" name="Text 9"/>
          <p:cNvSpPr/>
          <p:nvPr/>
        </p:nvSpPr>
        <p:spPr>
          <a:xfrm>
            <a:off x="732605" y="4085928"/>
            <a:ext cx="4622299" cy="22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Deviation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3819892" y="4085928"/>
            <a:ext cx="3338327" cy="22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15.2 points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881840" y="4585885"/>
            <a:ext cx="3851916" cy="22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Analyzed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3853810" y="4585885"/>
            <a:ext cx="3081533" cy="22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210 routes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902190" y="5085841"/>
            <a:ext cx="4365504" cy="2286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Tiers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3419673" y="5085841"/>
            <a:ext cx="4365504" cy="2286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Distinct clusters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5420771" y="2081651"/>
            <a:ext cx="7511225" cy="1899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96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Score Distribution</a:t>
            </a:r>
            <a:endParaRPr lang="en-US" sz="1350" dirty="0"/>
          </a:p>
        </p:txBody>
      </p:sp>
      <p:sp>
        <p:nvSpPr>
          <p:cNvPr id="36" name="Text 16"/>
          <p:cNvSpPr/>
          <p:nvPr/>
        </p:nvSpPr>
        <p:spPr>
          <a:xfrm>
            <a:off x="5400421" y="3980998"/>
            <a:ext cx="9533477" cy="1899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96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vs Other Routes Comparison</a:t>
            </a:r>
            <a:endParaRPr lang="en-US" sz="1350" dirty="0"/>
          </a:p>
        </p:txBody>
      </p:sp>
      <p:sp>
        <p:nvSpPr>
          <p:cNvPr id="37" name="Text 17"/>
          <p:cNvSpPr/>
          <p:nvPr/>
        </p:nvSpPr>
        <p:spPr>
          <a:xfrm>
            <a:off x="712255" y="6086708"/>
            <a:ext cx="11555747" cy="2286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Insight: Capacity-Performance Correlation</a:t>
            </a:r>
            <a:endParaRPr lang="en-US" sz="1200" dirty="0"/>
          </a:p>
        </p:txBody>
      </p:sp>
      <p:sp>
        <p:nvSpPr>
          <p:cNvPr id="38" name="Text 18"/>
          <p:cNvSpPr/>
          <p:nvPr/>
        </p:nvSpPr>
        <p:spPr>
          <a:xfrm>
            <a:off x="712255" y="6342463"/>
            <a:ext cx="37299265" cy="1356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68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with higher ridership tend to experience more delays due to capacity constraints, creating a feedback loop where popular routes become less reliable over time.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5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28625"/>
            <a:ext cx="11334703" cy="9286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643063"/>
            <a:ext cx="3587641" cy="1764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2178844"/>
            <a:ext cx="3159016" cy="29286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2614585"/>
            <a:ext cx="3159016" cy="29286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621825"/>
            <a:ext cx="3587641" cy="210740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8" y="4407638"/>
            <a:ext cx="1543720" cy="32146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4496935"/>
            <a:ext cx="80367" cy="1428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8095" y="4407638"/>
            <a:ext cx="1543859" cy="32146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9532" y="4496935"/>
            <a:ext cx="80367" cy="1428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8" y="4800544"/>
            <a:ext cx="1543720" cy="32146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4889841"/>
            <a:ext cx="80367" cy="1428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58095" y="4800544"/>
            <a:ext cx="1543859" cy="32146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29532" y="4889841"/>
            <a:ext cx="80367" cy="1428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2938" y="5193450"/>
            <a:ext cx="1543720" cy="321469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375" y="5282747"/>
            <a:ext cx="80367" cy="14287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58095" y="5193450"/>
            <a:ext cx="1543859" cy="321469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29532" y="5282747"/>
            <a:ext cx="80367" cy="14287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02016" y="1643063"/>
            <a:ext cx="4556094" cy="4250531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16329" y="2393156"/>
            <a:ext cx="4107656" cy="2678069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16329" y="5214938"/>
            <a:ext cx="4127469" cy="464344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43860" y="1643063"/>
            <a:ext cx="2619328" cy="4250531"/>
          </a:xfrm>
          <a:prstGeom prst="rect">
            <a:avLst/>
          </a:prstGeom>
        </p:spPr>
      </p:pic>
      <p:pic>
        <p:nvPicPr>
          <p:cNvPr id="24" name="Image 22" descr="https://picture-search.skywork.ai/aippt/image/sheet/a0902e0b3b7bf768ff985d01e4c39b31.jp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86735" y="2580540"/>
            <a:ext cx="2333578" cy="2287953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8625" y="6179344"/>
            <a:ext cx="11334703" cy="642938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6375797"/>
            <a:ext cx="187523" cy="250031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642938" y="428625"/>
            <a:ext cx="1667865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13"/>
              </a:lnSpc>
              <a:buNone/>
            </a:pPr>
            <a:r>
              <a:rPr lang="en-US" sz="2700" b="1" spc="-58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 IMPACT AND EQUITY FINDINGS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642938" y="857250"/>
            <a:ext cx="91440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69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analysis reveals no systematic bias against minority populations overall; however, specific target routes identified for equity priority continue to underperform significantly.</a:t>
            </a:r>
            <a:endParaRPr lang="en-US" sz="1500" dirty="0"/>
          </a:p>
        </p:txBody>
      </p:sp>
      <p:sp>
        <p:nvSpPr>
          <p:cNvPr id="29" name="Text 2"/>
          <p:cNvSpPr/>
          <p:nvPr/>
        </p:nvSpPr>
        <p:spPr>
          <a:xfrm>
            <a:off x="642938" y="1857375"/>
            <a:ext cx="330708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06"/>
              </a:lnSpc>
              <a:buNone/>
            </a:pPr>
            <a:r>
              <a:rPr lang="en-US" sz="1017" b="1" spc="87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ANALYSIS</a:t>
            </a:r>
            <a:endParaRPr lang="en-US" sz="1017" dirty="0"/>
          </a:p>
        </p:txBody>
      </p:sp>
      <p:sp>
        <p:nvSpPr>
          <p:cNvPr id="30" name="Text 3"/>
          <p:cNvSpPr/>
          <p:nvPr/>
        </p:nvSpPr>
        <p:spPr>
          <a:xfrm>
            <a:off x="642938" y="2178844"/>
            <a:ext cx="4535415" cy="2214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44"/>
              </a:lnSpc>
              <a:buNone/>
            </a:pPr>
            <a:r>
              <a:rPr lang="en-US" sz="1162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Delay vs Minority %</a:t>
            </a:r>
            <a:endParaRPr lang="en-US" sz="1162" dirty="0"/>
          </a:p>
        </p:txBody>
      </p:sp>
      <p:sp>
        <p:nvSpPr>
          <p:cNvPr id="31" name="Text 4"/>
          <p:cNvSpPr/>
          <p:nvPr/>
        </p:nvSpPr>
        <p:spPr>
          <a:xfrm>
            <a:off x="2925170" y="2178844"/>
            <a:ext cx="876784" cy="2214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44"/>
              </a:lnSpc>
              <a:buNone/>
            </a:pPr>
            <a:r>
              <a:rPr lang="en-US" sz="1162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-0.007 </a:t>
            </a:r>
            <a:pPr indent="0" marL="0">
              <a:lnSpc>
                <a:spcPts val="109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(NS)</a:t>
            </a:r>
            <a:endParaRPr lang="en-US" sz="1162" dirty="0"/>
          </a:p>
        </p:txBody>
      </p:sp>
      <p:sp>
        <p:nvSpPr>
          <p:cNvPr id="32" name="Text 5"/>
          <p:cNvSpPr/>
          <p:nvPr/>
        </p:nvSpPr>
        <p:spPr>
          <a:xfrm>
            <a:off x="642938" y="2614585"/>
            <a:ext cx="4535415" cy="2214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44"/>
              </a:lnSpc>
              <a:buNone/>
            </a:pPr>
            <a:r>
              <a:rPr lang="en-US" sz="1162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Delay vs Hispanic %</a:t>
            </a:r>
            <a:endParaRPr lang="en-US" sz="1162" dirty="0"/>
          </a:p>
        </p:txBody>
      </p:sp>
      <p:sp>
        <p:nvSpPr>
          <p:cNvPr id="33" name="Text 6"/>
          <p:cNvSpPr/>
          <p:nvPr/>
        </p:nvSpPr>
        <p:spPr>
          <a:xfrm>
            <a:off x="2869778" y="2614585"/>
            <a:ext cx="932176" cy="2214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44"/>
              </a:lnSpc>
              <a:buNone/>
            </a:pPr>
            <a:r>
              <a:rPr lang="en-US" sz="1162" dirty="0">
                <a:solidFill>
                  <a:srgbClr val="FDB81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-0.332 </a:t>
            </a:r>
            <a:pPr indent="0" marL="0">
              <a:lnSpc>
                <a:spcPts val="109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(Sig)</a:t>
            </a:r>
            <a:endParaRPr lang="en-US" sz="1162" dirty="0"/>
          </a:p>
        </p:txBody>
      </p:sp>
      <p:sp>
        <p:nvSpPr>
          <p:cNvPr id="34" name="Text 7"/>
          <p:cNvSpPr/>
          <p:nvPr/>
        </p:nvSpPr>
        <p:spPr>
          <a:xfrm>
            <a:off x="642938" y="3050325"/>
            <a:ext cx="94488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872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*NS: Not Significant. Sig: Statistically significant (p &lt; 0.05).</a:t>
            </a:r>
            <a:endParaRPr lang="en-US" sz="872" dirty="0"/>
          </a:p>
        </p:txBody>
      </p:sp>
      <p:sp>
        <p:nvSpPr>
          <p:cNvPr id="35" name="Text 8"/>
          <p:cNvSpPr/>
          <p:nvPr/>
        </p:nvSpPr>
        <p:spPr>
          <a:xfrm>
            <a:off x="642938" y="3836138"/>
            <a:ext cx="396850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06"/>
              </a:lnSpc>
              <a:buNone/>
            </a:pPr>
            <a:r>
              <a:rPr lang="en-US" sz="1017" b="1" spc="87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VULNERABLE NEIGHBORHOODS</a:t>
            </a:r>
            <a:endParaRPr lang="en-US" sz="1017" dirty="0"/>
          </a:p>
        </p:txBody>
      </p:sp>
      <p:sp>
        <p:nvSpPr>
          <p:cNvPr id="36" name="Text 9"/>
          <p:cNvSpPr/>
          <p:nvPr/>
        </p:nvSpPr>
        <p:spPr>
          <a:xfrm>
            <a:off x="642938" y="4157607"/>
            <a:ext cx="61889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872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MINORITY + LOW INCOME AREAS (6 TOTAL):</a:t>
            </a:r>
            <a:endParaRPr lang="en-US" sz="872" dirty="0"/>
          </a:p>
        </p:txBody>
      </p:sp>
      <p:sp>
        <p:nvSpPr>
          <p:cNvPr id="37" name="Text 10"/>
          <p:cNvSpPr/>
          <p:nvPr/>
        </p:nvSpPr>
        <p:spPr>
          <a:xfrm>
            <a:off x="866180" y="4407638"/>
            <a:ext cx="149030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06"/>
              </a:lnSpc>
              <a:buNone/>
            </a:pPr>
            <a:r>
              <a:rPr lang="en-US" sz="1017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Dorchester</a:t>
            </a:r>
            <a:endParaRPr lang="en-US" sz="1017" dirty="0"/>
          </a:p>
        </p:txBody>
      </p:sp>
      <p:sp>
        <p:nvSpPr>
          <p:cNvPr id="38" name="Text 11"/>
          <p:cNvSpPr/>
          <p:nvPr/>
        </p:nvSpPr>
        <p:spPr>
          <a:xfrm>
            <a:off x="2481337" y="4407638"/>
            <a:ext cx="163934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06"/>
              </a:lnSpc>
              <a:buNone/>
            </a:pPr>
            <a:r>
              <a:rPr lang="en-US" sz="1017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 Boston</a:t>
            </a:r>
            <a:endParaRPr lang="en-US" sz="1017" dirty="0"/>
          </a:p>
        </p:txBody>
      </p:sp>
      <p:sp>
        <p:nvSpPr>
          <p:cNvPr id="39" name="Text 12"/>
          <p:cNvSpPr/>
          <p:nvPr/>
        </p:nvSpPr>
        <p:spPr>
          <a:xfrm>
            <a:off x="866180" y="4800544"/>
            <a:ext cx="139132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06"/>
              </a:lnSpc>
              <a:buNone/>
            </a:pPr>
            <a:r>
              <a:rPr lang="en-US" sz="1017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Hyde Park</a:t>
            </a:r>
            <a:endParaRPr lang="en-US" sz="1017" dirty="0"/>
          </a:p>
        </p:txBody>
      </p:sp>
      <p:sp>
        <p:nvSpPr>
          <p:cNvPr id="40" name="Text 13"/>
          <p:cNvSpPr/>
          <p:nvPr/>
        </p:nvSpPr>
        <p:spPr>
          <a:xfrm>
            <a:off x="2481337" y="4800544"/>
            <a:ext cx="139145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06"/>
              </a:lnSpc>
              <a:buNone/>
            </a:pPr>
            <a:r>
              <a:rPr lang="en-US" sz="1017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Mattapan</a:t>
            </a:r>
            <a:endParaRPr lang="en-US" sz="1017" dirty="0"/>
          </a:p>
        </p:txBody>
      </p:sp>
      <p:sp>
        <p:nvSpPr>
          <p:cNvPr id="41" name="Text 14"/>
          <p:cNvSpPr/>
          <p:nvPr/>
        </p:nvSpPr>
        <p:spPr>
          <a:xfrm>
            <a:off x="866180" y="5193450"/>
            <a:ext cx="178836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06"/>
              </a:lnSpc>
              <a:buNone/>
            </a:pPr>
            <a:r>
              <a:rPr lang="en-US" sz="1017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 Hill</a:t>
            </a:r>
            <a:endParaRPr lang="en-US" sz="1017" dirty="0"/>
          </a:p>
        </p:txBody>
      </p:sp>
      <p:sp>
        <p:nvSpPr>
          <p:cNvPr id="42" name="Text 15"/>
          <p:cNvSpPr/>
          <p:nvPr/>
        </p:nvSpPr>
        <p:spPr>
          <a:xfrm>
            <a:off x="2481337" y="5193450"/>
            <a:ext cx="139145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06"/>
              </a:lnSpc>
              <a:buNone/>
            </a:pPr>
            <a:r>
              <a:rPr lang="en-US" sz="1017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Roxbury</a:t>
            </a:r>
            <a:endParaRPr lang="en-US" sz="1017" dirty="0"/>
          </a:p>
        </p:txBody>
      </p:sp>
      <p:sp>
        <p:nvSpPr>
          <p:cNvPr id="43" name="Text 16"/>
          <p:cNvSpPr/>
          <p:nvPr/>
        </p:nvSpPr>
        <p:spPr>
          <a:xfrm>
            <a:off x="4516329" y="1857375"/>
            <a:ext cx="412746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06"/>
              </a:lnSpc>
              <a:buNone/>
            </a:pPr>
            <a:r>
              <a:rPr lang="en-US" sz="1017" b="1" spc="87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DISPARITY</a:t>
            </a:r>
            <a:endParaRPr lang="en-US" sz="1017" dirty="0"/>
          </a:p>
        </p:txBody>
      </p:sp>
      <p:sp>
        <p:nvSpPr>
          <p:cNvPr id="44" name="Text 17"/>
          <p:cNvSpPr/>
          <p:nvPr/>
        </p:nvSpPr>
        <p:spPr>
          <a:xfrm>
            <a:off x="4516329" y="2107406"/>
            <a:ext cx="5952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87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Delay: Target Routes vs. Other Routes</a:t>
            </a:r>
            <a:endParaRPr lang="en-US" sz="872" dirty="0"/>
          </a:p>
        </p:txBody>
      </p:sp>
      <p:sp>
        <p:nvSpPr>
          <p:cNvPr id="45" name="Text 18"/>
          <p:cNvSpPr/>
          <p:nvPr/>
        </p:nvSpPr>
        <p:spPr>
          <a:xfrm>
            <a:off x="4623485" y="5375672"/>
            <a:ext cx="15590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872" b="1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GAP</a:t>
            </a:r>
            <a:endParaRPr lang="en-US" sz="872" dirty="0"/>
          </a:p>
        </p:txBody>
      </p:sp>
      <p:sp>
        <p:nvSpPr>
          <p:cNvPr id="46" name="Text 19"/>
          <p:cNvSpPr/>
          <p:nvPr/>
        </p:nvSpPr>
        <p:spPr>
          <a:xfrm>
            <a:off x="6670337" y="5322094"/>
            <a:ext cx="4566927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69"/>
              </a:lnSpc>
              <a:buNone/>
            </a:pPr>
            <a:r>
              <a:rPr lang="en-US" sz="1453" b="1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+41% Longer Delays</a:t>
            </a:r>
            <a:endParaRPr lang="en-US" sz="1453" dirty="0"/>
          </a:p>
        </p:txBody>
      </p:sp>
      <p:sp>
        <p:nvSpPr>
          <p:cNvPr id="47" name="Text 20"/>
          <p:cNvSpPr/>
          <p:nvPr/>
        </p:nvSpPr>
        <p:spPr>
          <a:xfrm>
            <a:off x="8965339" y="2294790"/>
            <a:ext cx="2976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72" b="1" spc="74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NEIGHBORHOOD PROFILES</a:t>
            </a:r>
            <a:endParaRPr lang="en-US" sz="872" dirty="0"/>
          </a:p>
        </p:txBody>
      </p:sp>
      <p:sp>
        <p:nvSpPr>
          <p:cNvPr id="48" name="Text 21"/>
          <p:cNvSpPr/>
          <p:nvPr/>
        </p:nvSpPr>
        <p:spPr>
          <a:xfrm>
            <a:off x="9286735" y="5011369"/>
            <a:ext cx="2333578" cy="2304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08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 of neighborhoods by Minority, Income, and Poverty classifications.</a:t>
            </a:r>
            <a:endParaRPr lang="en-US" sz="727" dirty="0"/>
          </a:p>
        </p:txBody>
      </p:sp>
      <p:sp>
        <p:nvSpPr>
          <p:cNvPr id="49" name="Text 22"/>
          <p:cNvSpPr/>
          <p:nvPr/>
        </p:nvSpPr>
        <p:spPr>
          <a:xfrm>
            <a:off x="901898" y="6322219"/>
            <a:ext cx="1071855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06"/>
              </a:lnSpc>
              <a:buNone/>
            </a:pPr>
            <a:r>
              <a:rPr lang="en-US" sz="101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Conclusion:</a:t>
            </a:r>
            <a:pPr indent="0" marL="0">
              <a:lnSpc>
                <a:spcPts val="1406"/>
              </a:lnSpc>
              <a:buNone/>
            </a:pPr>
            <a:r>
              <a:rPr lang="en-US" sz="1017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While no systemic demographic bias exists citywide, the </a:t>
            </a:r>
            <a:pPr indent="0" marL="0">
              <a:lnSpc>
                <a:spcPts val="1406"/>
              </a:lnSpc>
              <a:buNone/>
            </a:pPr>
            <a:r>
              <a:rPr lang="en-US" sz="1017" b="1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Routes</a:t>
            </a:r>
            <a:pPr indent="0" marL="0">
              <a:lnSpc>
                <a:spcPts val="1406"/>
              </a:lnSpc>
              <a:buNone/>
            </a:pPr>
            <a:r>
              <a:rPr lang="en-US" sz="1017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(which serve high-minority areas) underperform due to external factors like route length and traffic, creating localized equity burdens.</a:t>
            </a:r>
            <a:endParaRPr lang="en-US" sz="101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88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61" y="441561"/>
            <a:ext cx="11308866" cy="70557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61" y="1478304"/>
            <a:ext cx="5543988" cy="439933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342" y="1699084"/>
            <a:ext cx="365668" cy="42183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135" y="1781877"/>
            <a:ext cx="200082" cy="22078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342" y="2345579"/>
            <a:ext cx="117290" cy="11039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342" y="3224713"/>
            <a:ext cx="117290" cy="11039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342" y="4332498"/>
            <a:ext cx="82793" cy="11039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6330" y="1478304"/>
            <a:ext cx="5544096" cy="4399336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7111" y="1699084"/>
            <a:ext cx="393266" cy="42183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9904" y="1781877"/>
            <a:ext cx="227680" cy="22078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7111" y="2286503"/>
            <a:ext cx="5102535" cy="93432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7111" y="3386418"/>
            <a:ext cx="5102535" cy="70567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27111" y="5394035"/>
            <a:ext cx="5102535" cy="26282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77860" y="5504425"/>
            <a:ext cx="151786" cy="15243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1561" y="6098420"/>
            <a:ext cx="11308866" cy="318019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1561" y="6264005"/>
            <a:ext cx="151787" cy="152433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7147" y="441561"/>
            <a:ext cx="16663424" cy="4571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Analytical Limitations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607147" y="953949"/>
            <a:ext cx="17357718" cy="1931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21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constraints and scope of the findings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138400" y="1840953"/>
            <a:ext cx="3534668" cy="13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87"/>
              </a:lnSpc>
              <a:buNone/>
            </a:pPr>
            <a:r>
              <a:rPr lang="en-US" sz="1050" b="1" spc="11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CONSTRAINTS</a:t>
            </a:r>
            <a:endParaRPr lang="en-US" sz="1050" dirty="0"/>
          </a:p>
        </p:txBody>
      </p:sp>
      <p:sp>
        <p:nvSpPr>
          <p:cNvPr id="22" name="Text 3"/>
          <p:cNvSpPr/>
          <p:nvPr/>
        </p:nvSpPr>
        <p:spPr>
          <a:xfrm>
            <a:off x="834827" y="2286503"/>
            <a:ext cx="5806951" cy="2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Historical Data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800330" y="2542751"/>
            <a:ext cx="4964439" cy="4573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 Arrival/Departure records for 2018-2019 are unavailable on the MBTA portal, limiting pre-pandemic delay analysis.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834827" y="3165637"/>
            <a:ext cx="5102427" cy="2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Sampling Methodology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800330" y="3421885"/>
            <a:ext cx="4964439" cy="6859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analysis utilized a 5% sample of the full dataset for computational efficiency; full analysis is recommended for production.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800330" y="4273422"/>
            <a:ext cx="6059427" cy="2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Approximation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800330" y="4529669"/>
            <a:ext cx="4964439" cy="4573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Stop-to-neighborhood mapping uses coordinate-based bounding boxes rather than precise polygon boundaries.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6930767" y="1840953"/>
            <a:ext cx="3534668" cy="13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87"/>
              </a:lnSpc>
              <a:buNone/>
            </a:pPr>
            <a:r>
              <a:rPr lang="en-US" sz="1050" b="1" spc="116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ANALYTICAL SCOPE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6427111" y="2286503"/>
            <a:ext cx="5102535" cy="1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69"/>
              </a:lnSpc>
              <a:buNone/>
            </a:pPr>
            <a:r>
              <a:rPr lang="en-US" sz="900" b="1" spc="-5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CAUSALITY VS. CORRELATION</a:t>
            </a:r>
            <a:endParaRPr lang="en-US" sz="900" dirty="0"/>
          </a:p>
        </p:txBody>
      </p:sp>
      <p:sp>
        <p:nvSpPr>
          <p:cNvPr id="30" name="Text 11"/>
          <p:cNvSpPr/>
          <p:nvPr/>
        </p:nvSpPr>
        <p:spPr>
          <a:xfrm>
            <a:off x="6427111" y="2424491"/>
            <a:ext cx="5102535" cy="6859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Observed relationships between demographics and service quality may be driven by confounding factors like route length or infrastructure.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6427111" y="3386418"/>
            <a:ext cx="5102535" cy="1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69"/>
              </a:lnSpc>
              <a:buNone/>
            </a:pPr>
            <a:r>
              <a:rPr lang="en-US" sz="900" b="1" spc="-5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SCOPE</a:t>
            </a:r>
            <a:endParaRPr lang="en-US" sz="900" dirty="0"/>
          </a:p>
        </p:txBody>
      </p:sp>
      <p:sp>
        <p:nvSpPr>
          <p:cNvPr id="32" name="Text 13"/>
          <p:cNvSpPr/>
          <p:nvPr/>
        </p:nvSpPr>
        <p:spPr>
          <a:xfrm>
            <a:off x="6427111" y="3524406"/>
            <a:ext cx="5102535" cy="4573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Post-pandemic data (2020-2024) may not yet reflect "normal" operations due to ongoing recovery and service adjustments.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6427111" y="4257682"/>
            <a:ext cx="5102535" cy="1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69"/>
              </a:lnSpc>
              <a:buNone/>
            </a:pPr>
            <a:r>
              <a:rPr lang="en-US" sz="900" b="1" spc="-5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AGGREGATION VARIANCE</a:t>
            </a:r>
            <a:endParaRPr lang="en-US" sz="900" dirty="0"/>
          </a:p>
        </p:txBody>
      </p:sp>
      <p:sp>
        <p:nvSpPr>
          <p:cNvPr id="34" name="Text 15"/>
          <p:cNvSpPr/>
          <p:nvPr/>
        </p:nvSpPr>
        <p:spPr>
          <a:xfrm>
            <a:off x="6427111" y="4395670"/>
            <a:ext cx="5102535" cy="4573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 profiles are averaged across neighborhoods served, which potentially masks significant within-route variations.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6427111" y="5525446"/>
            <a:ext cx="7132461" cy="1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69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MBTA Open Data Portal Analysis 2025</a:t>
            </a:r>
            <a:endParaRPr lang="en-US" sz="900" dirty="0"/>
          </a:p>
        </p:txBody>
      </p:sp>
      <p:sp>
        <p:nvSpPr>
          <p:cNvPr id="36" name="Text 17"/>
          <p:cNvSpPr/>
          <p:nvPr/>
        </p:nvSpPr>
        <p:spPr>
          <a:xfrm>
            <a:off x="676141" y="6271228"/>
            <a:ext cx="28792817" cy="13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87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Constraints were mitigated where possible through cross-verification with Ridership data (2016-2024) which remained complete.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300" y="742950"/>
            <a:ext cx="457200" cy="457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71700"/>
            <a:ext cx="152400" cy="152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1300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90900"/>
            <a:ext cx="1905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000500"/>
            <a:ext cx="5334000" cy="2628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4381500"/>
            <a:ext cx="5029200" cy="2095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2171700"/>
            <a:ext cx="5334000" cy="1104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2419350"/>
            <a:ext cx="17145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3429000"/>
            <a:ext cx="5334000" cy="1104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676650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4686300"/>
            <a:ext cx="5334000" cy="1104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9339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0" y="5943600"/>
            <a:ext cx="5334000" cy="1104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6191250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5905500"/>
            <a:ext cx="11049000" cy="3810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571500" y="571500"/>
            <a:ext cx="2139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Conclusions &amp; </a:t>
            </a:r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Recommendations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571500" y="1104900"/>
            <a:ext cx="11109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Synthesis and Policy Roadmap for MBTA Bus Equity</a:t>
            </a:r>
            <a:endParaRPr lang="en-US" sz="1350" dirty="0"/>
          </a:p>
        </p:txBody>
      </p:sp>
      <p:sp>
        <p:nvSpPr>
          <p:cNvPr id="20" name="Text 2"/>
          <p:cNvSpPr/>
          <p:nvPr/>
        </p:nvSpPr>
        <p:spPr>
          <a:xfrm>
            <a:off x="11306175" y="85725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571500" y="17526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CONCLUSIONS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876300" y="20955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Ridership Recovery: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Post-pandemic levels remain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32.8% below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2016-2019 averages.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876300" y="27051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Quality: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31.7% OTP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citywide, indicating systemic reliability challenges.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914400" y="331470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Equity Gap: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Target routes experience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41% higher delays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(10.2 min avg) than standard routes.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723900" y="4152900"/>
            <a:ext cx="502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spc="72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ON-TIME PERFORMANCE (%) GAP</a:t>
            </a:r>
            <a:endParaRPr lang="en-US" sz="900" dirty="0"/>
          </a:p>
        </p:txBody>
      </p:sp>
      <p:sp>
        <p:nvSpPr>
          <p:cNvPr id="26" name="Text 8"/>
          <p:cNvSpPr/>
          <p:nvPr/>
        </p:nvSpPr>
        <p:spPr>
          <a:xfrm>
            <a:off x="6286500" y="17526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FDB8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ROADMAP</a:t>
            </a:r>
            <a:endParaRPr lang="en-US" sz="1050" dirty="0"/>
          </a:p>
        </p:txBody>
      </p:sp>
      <p:sp>
        <p:nvSpPr>
          <p:cNvPr id="27" name="Text 9"/>
          <p:cNvSpPr/>
          <p:nvPr/>
        </p:nvSpPr>
        <p:spPr>
          <a:xfrm>
            <a:off x="6762750" y="2362200"/>
            <a:ext cx="4937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Target Routes</a:t>
            </a:r>
            <a:endParaRPr lang="en-US" sz="1350" dirty="0"/>
          </a:p>
        </p:txBody>
      </p:sp>
      <p:sp>
        <p:nvSpPr>
          <p:cNvPr id="28" name="Text 10"/>
          <p:cNvSpPr/>
          <p:nvPr/>
        </p:nvSpPr>
        <p:spPr>
          <a:xfrm>
            <a:off x="6477000" y="27051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bus lanes, signal priority, and infrastructure on the 15 high-delay equity routes identified.</a:t>
            </a:r>
            <a:endParaRPr lang="en-US" sz="1050" dirty="0"/>
          </a:p>
        </p:txBody>
      </p:sp>
      <p:sp>
        <p:nvSpPr>
          <p:cNvPr id="29" name="Text 11"/>
          <p:cNvSpPr/>
          <p:nvPr/>
        </p:nvSpPr>
        <p:spPr>
          <a:xfrm>
            <a:off x="6781800" y="3619500"/>
            <a:ext cx="4732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Hour Interventions</a:t>
            </a:r>
            <a:endParaRPr lang="en-US" sz="1350" dirty="0"/>
          </a:p>
        </p:txBody>
      </p:sp>
      <p:sp>
        <p:nvSpPr>
          <p:cNvPr id="30" name="Text 12"/>
          <p:cNvSpPr/>
          <p:nvPr/>
        </p:nvSpPr>
        <p:spPr>
          <a:xfrm>
            <a:off x="6477000" y="39624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additional standby resources during evening rush (4-7 PM) when delays reach peak levels.</a:t>
            </a:r>
            <a:endParaRPr lang="en-US" sz="1050" dirty="0"/>
          </a:p>
        </p:txBody>
      </p:sp>
      <p:sp>
        <p:nvSpPr>
          <p:cNvPr id="31" name="Text 13"/>
          <p:cNvSpPr/>
          <p:nvPr/>
        </p:nvSpPr>
        <p:spPr>
          <a:xfrm>
            <a:off x="6743700" y="4876800"/>
            <a:ext cx="4937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Equity Metrics</a:t>
            </a:r>
            <a:endParaRPr lang="en-US" sz="1350" dirty="0"/>
          </a:p>
        </p:txBody>
      </p:sp>
      <p:sp>
        <p:nvSpPr>
          <p:cNvPr id="32" name="Text 14"/>
          <p:cNvSpPr/>
          <p:nvPr/>
        </p:nvSpPr>
        <p:spPr>
          <a:xfrm>
            <a:off x="6477000" y="52197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ongoing tracking of service quality by neighborhood demographics to ensure transparency.</a:t>
            </a:r>
            <a:endParaRPr lang="en-US" sz="1050" dirty="0"/>
          </a:p>
        </p:txBody>
      </p:sp>
      <p:sp>
        <p:nvSpPr>
          <p:cNvPr id="33" name="Text 15"/>
          <p:cNvSpPr/>
          <p:nvPr/>
        </p:nvSpPr>
        <p:spPr>
          <a:xfrm>
            <a:off x="6724650" y="6134100"/>
            <a:ext cx="4732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Restore Historical Data</a:t>
            </a:r>
            <a:endParaRPr lang="en-US" sz="1350" dirty="0"/>
          </a:p>
        </p:txBody>
      </p:sp>
      <p:sp>
        <p:nvSpPr>
          <p:cNvPr id="34" name="Text 16"/>
          <p:cNvSpPr/>
          <p:nvPr/>
        </p:nvSpPr>
        <p:spPr>
          <a:xfrm>
            <a:off x="6477000" y="64770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with MBTA to restore 2018-2019 arrival data for comprehensive pre/post pandemic trend analysis.</a:t>
            </a:r>
            <a:endParaRPr lang="en-US" sz="1050" dirty="0"/>
          </a:p>
        </p:txBody>
      </p:sp>
      <p:sp>
        <p:nvSpPr>
          <p:cNvPr id="35" name="Text 17"/>
          <p:cNvSpPr/>
          <p:nvPr/>
        </p:nvSpPr>
        <p:spPr>
          <a:xfrm>
            <a:off x="571500" y="6134100"/>
            <a:ext cx="58521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BOSTON BUS EQUITY ANALYSIS | SPRING 2025</a:t>
            </a:r>
            <a:endParaRPr lang="en-US" sz="900" dirty="0"/>
          </a:p>
        </p:txBody>
      </p:sp>
      <p:sp>
        <p:nvSpPr>
          <p:cNvPr id="36" name="Text 18"/>
          <p:cNvSpPr/>
          <p:nvPr/>
        </p:nvSpPr>
        <p:spPr>
          <a:xfrm>
            <a:off x="8848725" y="6134100"/>
            <a:ext cx="58978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CS506 DATA SCIENCE TOOLS AND APPLICATIONS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2026-02-11T22:09:07Z</dcterms:created>
  <dcterms:modified xsi:type="dcterms:W3CDTF">2026-02-11T22:09:07Z</dcterms:modified>
</cp:coreProperties>
</file>